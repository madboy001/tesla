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3D0A0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 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TESLA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3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931920" y="3383280"/>
            <a:ext cx="128016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520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a company sells 1.8 million cars a year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spending a single dollar on advertising?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2519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$67 Billion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automaker spends billions on ads. Tesla spends zero. Yet they own 52% of the US EV market. How?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3774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3736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$67B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EV Market Size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prize everyone 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fighting for (Statista, 2025)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560320" cy="23774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73736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Tesla's Market Share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971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all competitors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— without a single 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560320" cy="23774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73736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Budget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971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GM spends $3.5B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$2.8B annually on ads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understand Tesla's dominance, we need to look at how they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rewrote the rules of automotive marketing from the ground up.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Anti-Marketing Playbook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Tesla didn't just skip advertising — they built an entirely new model where the product markets itself.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Product IS the 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2057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91% owner satisfaction becomes word-of-mouth (JD Power)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Every Tesla on the road is a rolling billboard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OTA updates (40+/year) generate constant media coverage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60020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60020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737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CEO as Chief Marketer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2057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200M+ social media followers — largest of any CEO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$19B in earned media value annually (Bloomberg)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Product launches become cultural events (250M+ impressions)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24612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Owners as Salesforce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85800" y="3703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Referral program drove 425,000+ new orders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Tesla ranks #1 in brand loyalty (Consumer Reports)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Community forums and owner clubs amplify the message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54880" y="324612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24612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83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3383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Direct-to-Consumer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92040" y="3703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No dealerships = no $2,000+ markup, no brand dilution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Online ordering: configure &amp; buy in 8 minutes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200+ Tesla stores in premium malls for brand exposure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Model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2017, 400,000 people paid $1,000 to reserve a car they'd never seen in person. That's not a product launch — it's a movement.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023360" cy="32004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54864" cy="320040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 That Changed Everything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Launched March 2017 — 400K pre-orders in the first week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Mission: Make EVs accessible, not just aspirational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Best-selling EV in the US for 6 consecutive years (2019-2024)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Range: 272-358 miles — eliminated 'range anxiety' narrative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5-star NHTSA safety rating in every category tested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Autopilot standard; Full Self-Driving: $12K or $199/mo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Revenue contribution: ~40% of Tesla's $96.8B FY2024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3931920" cy="13716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$38,990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MSRP — or just $31,490 after $7,500 federal tax credit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246120"/>
            <a:ext cx="3931920" cy="164592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337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Owners Never Go 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60% lower fuel cost — $0.04/mile vs $0.12/mile gasoline (DOE)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50% less maintenance — no oil changes, brakes last 100K+ mi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Car improves after purchase — 40+ OTA updates per year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15,000+ Supercharger stations — largest fast-charging network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Strengths, Cracks &amp; Crossroads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company is invincible. Tesla's greatest strengths also hide its biggest vulnerabilities.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15544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91% satisfaction — owners become evangelists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Only automaker with full software-defined vehicle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Vertical integration: batteries, chips, charging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Direct sales = $2,000+ saved per car vs dealerships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54864" cy="15544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4767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Quality issues: 23% report panel gaps or paint defects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Service centers: avg 45-min drive (vs 15-min for Toyota)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CEO dependency — one tweet can move stock ±10%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Customer service scored below industry avg (ACSI)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91840"/>
            <a:ext cx="54864" cy="15544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64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63931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US EV market hitting $67B by 2026 — still only 9% of auto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$7,500 IRA tax credit accelerating mass adoption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Autonomous driving: $300B TAM by 2030 (Goldman Sachs)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Energy storage + solar creates recurring revenue streams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3931920" cy="155448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291840"/>
            <a:ext cx="54864" cy="155448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3649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639312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BYD outsold Tesla globally in Q4 2023 — the gap is closing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Legacy OEMs pouring $500B+ into EV catch-up collectively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Lithium prices swung 300% in 2022 — supply chain risk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Tax credit phase-out could eliminate $7,500 price advantage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Competitive Battlefield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Tesla built a moat — but competitors are learning to swim. Here's what the competitive landscape really looks like.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Force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This Means for Tesla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21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Power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7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Battery materials are scarce, but Tesla's Gigafactories and 4680 cells reduce dependency on any single supplier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Power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7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 competing EVs give buyers choice — but Tesla's 91% satisfaction and Supercharger lock-in keep them loyal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Entrants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6BB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an EV company costs $5B+ minimum. Charging infrastructure and software expertise create massive barriers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7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Hybrids and hydrogen exist, but declining battery costs and government incentives are making EVs the default choice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0F0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Rivalry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52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8888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is the real threat. BYD, Ford, GM, Hyundai, VW are spending $500B+ combined to catch Tesla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verdict? Tesla's moat is real — but it's eroding. Speed of execution will determine the next chapter.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Buys a Tesla — and Why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Tesla doesn't sell to everyone. They sell to people who want to feel like they're part of the future.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0320" cy="32004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THEY ARE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Age 25-45, household income $75K+, 72% male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College-educated, urban professionals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3.2x more likely to own smart home devices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Top 5 states = 52% of sales (CA, TX, FL, NY, WA)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0" y="1600200"/>
            <a:ext cx="2560320" cy="32004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60020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8308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DRIVES THEM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20440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Tech-forward: they buy innovation, not transportation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Eco-conscious: sustainability is identity, not feature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Status-seeking: Tesla is a lifestyle statement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Early adopters on the Rogers diffusion curve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60320" cy="320040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600200"/>
            <a:ext cx="25603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7830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783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TESLA POSITIONS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355080" y="219456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Intersection of HIGH innovation + MID price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Premium tech brand — not 'just another automaker'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Only EV with integrated ecosystem (car + energy + charging)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Primary: Urban tech pros / Secondary: Eco families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4P Playbook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companies optimize their marketing mix. Tesla reinvented it — every P breaks an industry convention.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— The Car Sells Itself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203911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358mi range, 15" touchscreen, minimalist interior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Autopilot + FSD = car improves after you buy 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40+ OTA updates/year — no other automaker does this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5-star NHTSA rating in every single category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60020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60020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— Transparent &amp; Disruptive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203911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$38,990 base — or $31,490 after $7,500 tax credit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Same price for everyone — no haggling, no dealer games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TCO saves $6,000-8,000 over 5yr vs BMW 3 Series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Insurance through Tesla at 20-30% lower rates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24612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364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PLACE — Cut Out the Middleman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85800" y="36850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100% direct-to-consumer — first automaker to do this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Buy online in 8 minutes, delivered to your driveway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200+ stores in malls — test drive, don't get sold to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15,000+ Superchargers now the US standard (NACS)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54880" y="3246120"/>
            <a:ext cx="3931920" cy="14630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3246120"/>
            <a:ext cx="3931920" cy="36576"/>
          </a:xfrm>
          <a:prstGeom prst="rect">
            <a:avLst/>
          </a:prstGeom>
          <a:solidFill>
            <a:srgbClr val="E8212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3832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66360" y="3364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PROMOTION — Let Others Do It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892040" y="3685032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$0 ad spend — while competitors burn $3-5B annually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CEO's tweets = $19B earned media value (Bloomberg)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Referral program alone drove 425K+ vehicle sales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Every launch is a cultural moment, not a commercial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Tesla Should Do Next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playbook that got Tesla here won't be enough for what's coming. Here's how to stay ahead.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931920" cy="32918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54864" cy="3291840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2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Gaps (4Ps + 7Ps)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Product: Launch a sub-$30K model — 60% of buyers are priced out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Price: Dynamic pricing based on demand (like airlines, not cars)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Place: 40% more service centers — current 2-3 week wait is unacceptable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Promotion: Targeted TikTok/YouTube for Gen Z — the next wave of buyers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People: Service training overhaul — ACSI score is below industry average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Process: Mobile service fleet should handle 80% of repairs at home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Physical: VR test drives in showrooms — let people experience the future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023360" cy="3291840"/>
          </a:xfrm>
          <a:prstGeom prst="rect">
            <a:avLst/>
          </a:prstGeom>
          <a:solidFill>
            <a:srgbClr val="141420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54864" cy="329184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9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Story (STP)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Go broader: mid-income ($50-75K) is a massive untapped segment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Go global: strengthen positioning vs BYD and Chinese EVs before they dominate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Go corporate: fleet/B2B for companies with ESG mandates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Go inclusive: only 28% of buyers are women — huge opportunity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Go younger: all-inclusive subscription model for Gen Z/Millennials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Go local: tailor messaging for rural (range) vs urban (charging) markets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8899"/>
                </a:solidFill>
              </a:rPr>
              <a:t>Reposition: 'best value in class' not 'cheapest Tesla' to protect brand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16068"/>
            <a:ext cx="9144000" cy="27432"/>
          </a:xfrm>
          <a:prstGeom prst="rect">
            <a:avLst/>
          </a:prstGeom>
          <a:solidFill>
            <a:srgbClr val="E82127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371600"/>
            <a:ext cx="4572000" cy="3200400"/>
          </a:xfrm>
          <a:prstGeom prst="ellipse">
            <a:avLst/>
          </a:prstGeom>
          <a:solidFill>
            <a:srgbClr val="3D0A0C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Tesla didn't just build a better car.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6666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built a better way to sell one.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127"/>
                </a:solidFill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Zero advertising + 52% market share = the product IS the marketing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26700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127"/>
                </a:solidFill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Direct-to-consumer eliminated $2,000+ dealer markup AND controlled the brand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05409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127"/>
                </a:solidFill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91% satisfaction turned buyers into the most powerful salesforce in automotive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4381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127"/>
                </a:solidFill>
              </a:rPr>
              <a:t>04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But the moat is eroding — BYD, Ford, and GM are closing fast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38221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127"/>
                </a:solidFill>
              </a:rPr>
              <a:t>05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</a:rPr>
              <a:t>The next chapter requires going broader, cheaper, and more inclusive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Statista (2025), Tesla 10-K (2024), Porter (1979), Kotler &amp; Keller (2016), IEA (2025), Bloomberg NEF (2025), McKinsey (2024), JD Power (2024), Consumer Reports (2024)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21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Tesla Model 3 - Marketing Strategy Analysis</dc:title>
  <dc:subject>PptxGenJS Presentation</dc:subject>
  <dc:creator>Tesla Marketing Analysis</dc:creator>
  <cp:lastModifiedBy>Tesla Marketing Analysis</cp:lastModifiedBy>
  <cp:revision>1</cp:revision>
  <dcterms:created xsi:type="dcterms:W3CDTF">2026-03-22T17:30:48Z</dcterms:created>
  <dcterms:modified xsi:type="dcterms:W3CDTF">2026-03-22T17:30:48Z</dcterms:modified>
</cp:coreProperties>
</file>