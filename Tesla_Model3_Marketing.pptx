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0" y="731520"/>
            <a:ext cx="4572000" cy="3657600"/>
          </a:xfrm>
          <a:prstGeom prst="ellipse">
            <a:avLst/>
          </a:prstGeom>
          <a:solidFill>
            <a:srgbClr val="3D0A0C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STRATEGY ANALYSIS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TESLA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3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3931920" y="3520440"/>
            <a:ext cx="128016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Redefining How Cars Are Sold in America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420624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023360" cy="35661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402336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&amp; Analytical Frameworks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1874520"/>
            <a:ext cx="36118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Comprehensive analysis of Tesla Model 3 marketing strategy in the US market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Evaluates brand positioning in the $67B US EV market (Statista, 2025)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SWOT Analysis — internal strengths/weaknesses vs external landscape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PESTEL Analysis — macro-environmental factors shaping EV adoption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Porter's Five Forces — competitive intensity and profit potential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STP Framework — segmentation, targeting, and positioning strategy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Marketing Mix — 4Ps (product) and 7Ps (service) evaluation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99"/>
                </a:solidFill>
              </a:rPr>
              <a:t>Actionable recommendations for sustaining competitive advantage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029200" y="1325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52%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02920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EV market share — Tesla leads all competitors combined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(IEA Global EV Outlook, 2025)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846320" y="246888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029200" y="2514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02920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advertising spend — only major automaker with zero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budget (Bloomberg, 2024)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846320" y="3657600"/>
            <a:ext cx="3931920" cy="118872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029200" y="3703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1.8M+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5029200" y="4160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deliveries in 2024; Model 3 accounts for ~40% of total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volume. Revenue: $96.8B (Tesla 10-K, 2024)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&amp; Communication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strategic marketing is critical in the EV revolution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560320" cy="32918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5448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737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21488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EV market projected to grow 23% CAGR through 2030 (McKinsey, 2024)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Brand perception drives 68% of EV purchase decisions (Deloitte, 2025)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Traditional auto marketing costs $3,000-5,000 per vehicle sold — Tesla spends $0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Strategic communication builds trust in new technology adoption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2560320" cy="32918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55448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7373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40480" y="1737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20440" y="21488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Product-led growth: the car IS the marketing — 91% owner satisfaction (JD Power)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CEO social media: 200M+ followers generating $19B earned media value annually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Community-powered advocacy: referral program drove 425,000+ new orders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Tesla ranks #1 in brand loyalty among EV manufacturers (Consumer Reports)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217920" y="1554480"/>
            <a:ext cx="2560320" cy="32918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55448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373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75120" y="1737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355080" y="21488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Direct-to-consumer: eliminates dealer markup &amp; controls brand narrative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Tesla stores in premium retail locations (malls, high streets) for exposure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Test drive events and delivery experience create emotional brand connection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OTA updates keep product fresh — 40+ updates/year generate media coverage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Company &amp; Product Introduction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023360" cy="35661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54864" cy="3566160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Inc. — Company Background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1828800"/>
            <a:ext cx="3611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Founded July 2003 by Martin Eberhard &amp; Marc Tarpenning; Elon Musk joined as chairman in 2004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Headquarters: Austin, Texas (moved from Palo Alto, CA in 2021)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Mission: 'Accelerate the world's transition to sustainable energy'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Market capitalization: ~$800B+ (2025) — world's most valuable automaker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Revenue: $96.8B in FY2024, up from $81.5B in FY2023 (Tesla 10-K)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Global workforce: 140,000+ employees across 6 Gigafactories worldwide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Product line: Model S, 3, X, Y, Cybertruck, Semi; also Solar &amp; Powerwall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Supercharger network: 15,000+ stations globally — becoming industry standard (NACS)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931920" cy="164592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2801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Product Background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17830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Launched March 2017 — 400,000+ pre-orders in first week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Starting MSRP: $38,990 (base) to $52,990 (Performance)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Range: 272-358 miles; 0-60 mph in 3.1-5.8 seconds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Best-selling EV in the US for 6 consecutive years (2019-2024)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846320" y="3108960"/>
            <a:ext cx="3931920" cy="17373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46320" y="31089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0" y="3246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 to Consumers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29200" y="36118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Total cost of ownership 35-45% lower than comparable ICE vehicles (AAA, 2024)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60% lower fuel costs — $0.04/mile vs $0.12/mile for gasoline (DOE)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50% less maintenance — no oil changes, brake pads last 100K+ miles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OTA software updates: car improves after purchase (Autopilot, range, features)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8899"/>
                </a:solidFill>
              </a:rPr>
              <a:t>$7,500 federal tax credit eligibility reduces effective price to $31,490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SWOT &amp; PESTEL Analysis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54864" cy="16916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5331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Brand loyalty: 91% owner satisfaction (JD Power, 2024)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Technology leadership: Autopilot, FSD, OTA capabilities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Vertical integration: in-house battery production (4680 cells)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Direct-to-consumer model eliminates $2,000+ dealer markup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15,000+ Supercharger stations — largest fast-charging network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80160"/>
            <a:ext cx="54864" cy="169164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35331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Quality control issues: panel gaps, paint defects reported by 23% of owners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Limited service center network: avg 45-min drive vs 15-min for legacy OEMs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High dependency on CEO's personal brand — PR volatility risk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Premium pricing excludes 60%+ of US car buyers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Customer service ranked below industry average (ACSI, 2024)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108960"/>
            <a:ext cx="54864" cy="169164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8211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US EV market projected to reach $67B by 2026 (Statista)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$7,500 IRA federal tax credit drives adoption since 2023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Autonomous driving TAM: $300B+ by 2030 (Goldman Sachs)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Expansion into fleet/commercial segment (ride-hailing, delivery)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Energy storage + solar integration grows recurring revenue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54864" cy="16916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18211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Chinese competitors (BYD) now outsell Tesla globally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Legacy OEMs investing $500B+ collectively in EV transition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Raw material costs: lithium prices rose 300% in 2022 before correction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Regulatory changes: potential tax credit phase-out risk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Market saturation in early-adopter segments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Porter's Five Forces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&amp; Macro Competitive Environment Analysis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046720" cy="347472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5760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Factors &amp; Analysis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Bargaining Power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Suppliers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888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 lithium/cobalt suppliers create dependency. Tesla mitigates via Gigafactory vertical integration and 4680 battery cells. Long-term supply contracts with Panasonic, CATL reduce risk.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Bargaining Power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Buyers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888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Growing EV alternatives (30+ models in US by 2025) increase buyer choice. However, Tesla's brand loyalty (91% satisfaction) and Supercharger lock-in reduce switching propensity.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 of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888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Extremely high capital requirements ($5B+ for factory). Regulatory barriers, charging infrastructure costs, and Tesla's first-mover advantage in software/autonomy create strong moat.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 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888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vehicles (Toyota RAV4 Prime), hydrogen fuel cells, and improved public transit offer alternatives. However, declining battery costs and EV policy support reduce substitution threat.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Rivalry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888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Intense: BYD surpassed Tesla in global EV sales (Q4 2023). Ford, GM, Hyundai, VW investing $500B+ combined. Price wars in China compressing margins industry-wide.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STP Analysis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560320" cy="3520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" y="18745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Demographic: Age 25-45, HHI $75K+, 72% male, college-educated urban professionals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Psychographic: Tech-forward lifestyle, environmentally conscious values, status-seeking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Behavioral: Early adopters (Rogers diffusion curve), heavy digital users, 3.2x more likely to own smart home devices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Geographic: Concentrated in CA (28%), TX, FL, NY, WA — top 5 states = 52% of sales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383280" y="1280160"/>
            <a:ext cx="2560320" cy="3520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83280" y="128016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6304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4048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TARGETING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20440" y="18745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Primary: Urban tech professionals, 28-40, $100K+ income, Silicon Valley/Austin/NYC archetype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Secondary: Eco-conscious families, dual-income, suburban, prioritize safety + sustainability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Tertiary: Fleet operators (Uber/Lyft drivers, corporate fleets targeting ESG goals)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Differentiated targeting: Model 3 Standard for value-seekers; Performance for enthusiasts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217920" y="1280160"/>
            <a:ext cx="2560320" cy="3520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0" y="1280160"/>
            <a:ext cx="25603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63040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7512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355080" y="18745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Innovation leader at accessible price — premium tech brand, not just automaker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Positioned at intersection of high innovation + mid-price vs competitors (positioning map)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Brand mantra: 'The future of driving' — sustainability as identity, not feature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Competitive edge: only EV brand with integrated ecosystem (car + energy + charging + insurance)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Mix — 4Ps Strategy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1417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17373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Premium EV: 358mi range, 15-inch touchscreen, minimalist interior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Autopilot standard; Full Self-Driving (FSD) $12K add-on or $199/mo subscription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OTA updates: 40+ per year — car improves post-purchase (unique in auto industry)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Safety: 5-star NHTSA rating in every category, lowest rollover risk of any car tested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54880" y="12801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2801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1732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417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PRICE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892040" y="17373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Base: $38,990 (Standard) / $45,990 (Long Range) / $52,990 (Performance)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Transparent pricing: no haggling, no dealer markup — same price for everyone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$7,500 federal tax credit + state incentives reduce effective price to ~$31,490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TCO advantage: saves $6,000-8,000 over 5 years vs comparable BMW 3 Series (Edmunds)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48640" y="31089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31089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05840" y="3246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PLACE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85800" y="35661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100% direct-to-consumer — bypasses traditional dealership model entirely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Online ordering: configure &amp; buy in 8 minutes avg; home delivery available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200+ Tesla stores/galleries in premium retail locations for brand exposure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15,000+ Supercharger stations worldwide; NACS adopted as US charging standard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754880" y="3108960"/>
            <a:ext cx="393192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54880" y="3108960"/>
            <a:ext cx="3931920" cy="36576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246120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12080" y="3246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PROMOTION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892040" y="35661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$0 paid advertising — only major automaker with zero traditional media spend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Earned media: $19B annually from CEO social media (200M+ followers) and press coverage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Referral program: owners earn rewards for referrals — drove 425K+ sales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Product launches as cultural events: Cybertruck unveil = 250M+ social impressions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931920" cy="36576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34440"/>
            <a:ext cx="54864" cy="3657600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Mix Recommendations (4Ps + 7Ps)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Product: Launch sub-$30K Model Q/2 to capture 60% of market currently priced out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Product: Expand FSD to achieve Level 4 autonomy — $300B TAM (Goldman Sachs)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Price: Implement dynamic pricing based on demand signals and inventory levels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Price: Introduce leasing with battery-as-a-service to lower monthly payments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Place: Expand service centers by 40% — current wait times avg 2-3 weeks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Place: Partner with 3rd-party charging networks to reduce range anxiety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Promotion: Targeted digital campaigns on YouTube/TikTok for Gen Z audience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Promotion: Launch owner-ambassador program to formalize word-of-mouth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7Ps — Services Extension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70332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People: Invest in customer service training — current ACSI score below industry avg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Process: Streamline mobile service fleet; reduce repair wait from 3 weeks to 5 days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Physical Evidence: Redesign showrooms with VR test drives and lifestyle zones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0" y="1234440"/>
            <a:ext cx="4023360" cy="36576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234440"/>
            <a:ext cx="54864" cy="36576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9C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STP Strategy Recommendations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1691640"/>
            <a:ext cx="3611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Broaden targeting to include mid-income consumers ($50-75K HHI) via affordable model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Strengthen positioning vs Chinese EVs (BYD Seal, MG4) on software and safety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Develop dedicated fleet/B2B segment — corporate ESG mandates driving demand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Localize marketing for regional US differences (rural range anxiety vs urban charging)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Leverage 91% satisfaction score in testimonial-based positioning campaigns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Expand female buyer targeting — currently only 28% of Model 3 buyers are women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Position Model 3 as 'best value in class' not 'cheapest Tesla' to protect brand equity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Create subscription tier for younger buyers: all-inclusive monthly EV package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Statista (2025). US Electric Vehicle Market Report. Available at: statista.com/outlook/mmo/electric-vehicles/united-states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Tesla Inc. (2024). Annual Report &amp; Form 10-K Filing. United States Securities and Exchange Commission.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Porter, M.E. (1979). 'How Competitive Forces Shape Strategy'. Harvard Business Review, 57(2), pp.137-145.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Kotler, P. &amp; Keller, K.L. (2016). Marketing Management. 15th Edition. Pearson Education Limited.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International Energy Agency (2025). Global EV Outlook 2025. IEA Publications, Paris.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Bloomberg NEF (2025). Electric Vehicle Market Analysis &amp; Long-Term Forecast. Bloomberg Finance LP.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McKinsey &amp; Company (2024). 'The Future of Mobility: Electric Vehicles in America'. McKinsey Center for Future Mobility.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Deloitte (2025). Global Automotive Consumer Study — US Market Focus. Deloitte Touche Tohmatsu Limited.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JD Power (2024). US Electric Vehicle Experience Ownership Study. J.D. Power and Associates.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Consumer Reports (2024). Annual Auto Reliability Survey — EV Segment Analysis.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Goldman Sachs (2024). 'The Autonomous Driving Revolution: A $300B Opportunity'. GS Research.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888899"/>
                </a:solidFill>
              </a:rPr>
              <a:t>US Department of Energy (2024). Alternative Fuels Data Center — Fuel Cost Comparison Calculator.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Tesla Model 3 - Marketing Strategy Analysis</dc:title>
  <dc:subject>PptxGenJS Presentation</dc:subject>
  <dc:creator>Tesla Marketing Analysis</dc:creator>
  <cp:lastModifiedBy>Tesla Marketing Analysis</cp:lastModifiedBy>
  <cp:revision>1</cp:revision>
  <dcterms:created xsi:type="dcterms:W3CDTF">2026-03-22T17:01:57Z</dcterms:created>
  <dcterms:modified xsi:type="dcterms:W3CDTF">2026-03-22T17:01:57Z</dcterms:modified>
</cp:coreProperties>
</file>