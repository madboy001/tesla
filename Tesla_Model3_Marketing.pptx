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4" name="Shape 2"/>
          <p:cNvSpPr/>
          <p:nvPr/>
        </p:nvSpPr>
        <p:spPr>
          <a:xfrm>
            <a:off x="1828800" y="457200"/>
            <a:ext cx="5486400" cy="4114800"/>
          </a:xfrm>
          <a:prstGeom prst="ellipse">
            <a:avLst/>
          </a:prstGeom>
          <a:solidFill>
            <a:srgbClr val="3D0A0C">
              <a:alpha val="2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STRATEGY 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TESLA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 3</a:t>
            </a:r>
            <a:endParaRPr lang="en-US" sz="3800" dirty="0"/>
          </a:p>
        </p:txBody>
      </p:sp>
      <p:sp>
        <p:nvSpPr>
          <p:cNvPr id="8" name="Shape 6"/>
          <p:cNvSpPr/>
          <p:nvPr/>
        </p:nvSpPr>
        <p:spPr>
          <a:xfrm>
            <a:off x="3840480" y="2560320"/>
            <a:ext cx="1463040" cy="22860"/>
          </a:xfrm>
          <a:prstGeom prst="rect">
            <a:avLst/>
          </a:prstGeom>
          <a:solidFill>
            <a:srgbClr val="E82127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265176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71600" y="32004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828800" y="35204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</a:rPr>
              <a:t>01  </a:t>
            </a:r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Part 1: Introduction to Tesla and Model 3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828800" y="379476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</a:rPr>
              <a:t>02  </a:t>
            </a:r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Part 2: Critical Analysis of Market Context (PESTEL, Porter's, SWOT)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828800" y="406908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</a:rPr>
              <a:t>03  </a:t>
            </a:r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Part 3: Segmentation, Targeting and Positioning (STP)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828800" y="43434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</a:rPr>
              <a:t>04  </a:t>
            </a:r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Part 4: Analysis of Marketing Mix (7Ps) &amp; Recommendations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828800" y="46177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</a:rPr>
              <a:t>05  </a:t>
            </a:r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Executive Summary &amp; References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Introduction to Tesla &amp; Model 3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3931920" cy="182880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34440"/>
            <a:ext cx="393192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Background of Tesla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627632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54880" y="1234440"/>
            <a:ext cx="3931920" cy="182880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234440"/>
            <a:ext cx="393192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13258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 Story of Model 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892040" y="1627632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45720" cy="1691640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331012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Why Consumers Choose Model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8368" y="356616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Critical Analysis of Market Context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3931920" cy="370332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34440"/>
            <a:ext cx="393192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 Market Trends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6002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24688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2.2.1 PESTEL Analysis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697480"/>
          <a:ext cx="3611880" cy="2103120"/>
        </p:xfrm>
        <a:graphic>
          <a:graphicData uri="http://schemas.openxmlformats.org/drawingml/2006/table">
            <a:tbl>
              <a:tblPr/>
              <a:tblGrid>
                <a:gridCol w="640080"/>
                <a:gridCol w="502920"/>
                <a:gridCol w="246888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21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21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Points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212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Political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(content to be added)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Economic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(content to be added)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Social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(content to be added)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Technological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(content to be added)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Environmental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(content to be added)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Legal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(content to be added)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754880" y="1234440"/>
            <a:ext cx="3931920" cy="19659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234440"/>
            <a:ext cx="393192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3" name="Text 10"/>
          <p:cNvSpPr/>
          <p:nvPr/>
        </p:nvSpPr>
        <p:spPr>
          <a:xfrm>
            <a:off x="4892040" y="13258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2.2.2 Porter's Five Forces</a:t>
            </a:r>
            <a:endParaRPr lang="en-US" sz="10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600200"/>
          <a:ext cx="3611880" cy="1463040"/>
        </p:xfrm>
        <a:graphic>
          <a:graphicData uri="http://schemas.openxmlformats.org/drawingml/2006/table">
            <a:tbl>
              <a:tblPr/>
              <a:tblGrid>
                <a:gridCol w="777240"/>
                <a:gridCol w="502920"/>
                <a:gridCol w="233172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21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21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212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Suppliers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(content to be added)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Buyers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(content to be added)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Entrants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(content to be added)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Substitutes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(content to be added)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Rivalry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(content to be added)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4754880" y="3337560"/>
            <a:ext cx="3931920" cy="160020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892040" y="3383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SWOT Analysis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892040" y="3639312"/>
            <a:ext cx="1783080" cy="566928"/>
          </a:xfrm>
          <a:prstGeom prst="rect">
            <a:avLst/>
          </a:prstGeom>
          <a:solidFill>
            <a:srgbClr val="141420"/>
          </a:solidFill>
          <a:ln/>
        </p:spPr>
      </p:sp>
      <p:sp>
        <p:nvSpPr>
          <p:cNvPr id="18" name="Shape 14"/>
          <p:cNvSpPr/>
          <p:nvPr/>
        </p:nvSpPr>
        <p:spPr>
          <a:xfrm>
            <a:off x="4892040" y="3639312"/>
            <a:ext cx="36576" cy="566928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5"/>
          <p:cNvSpPr/>
          <p:nvPr/>
        </p:nvSpPr>
        <p:spPr>
          <a:xfrm>
            <a:off x="4983480" y="3675888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— Strengths</a:t>
            </a:r>
            <a:endParaRPr lang="en-US" sz="750" dirty="0"/>
          </a:p>
        </p:txBody>
      </p:sp>
      <p:sp>
        <p:nvSpPr>
          <p:cNvPr id="20" name="Text 16"/>
          <p:cNvSpPr/>
          <p:nvPr/>
        </p:nvSpPr>
        <p:spPr>
          <a:xfrm>
            <a:off x="4983480" y="38587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650" dirty="0"/>
          </a:p>
        </p:txBody>
      </p:sp>
      <p:sp>
        <p:nvSpPr>
          <p:cNvPr id="21" name="Shape 17"/>
          <p:cNvSpPr/>
          <p:nvPr/>
        </p:nvSpPr>
        <p:spPr>
          <a:xfrm>
            <a:off x="6766560" y="3639312"/>
            <a:ext cx="1783080" cy="566928"/>
          </a:xfrm>
          <a:prstGeom prst="rect">
            <a:avLst/>
          </a:prstGeom>
          <a:solidFill>
            <a:srgbClr val="141420"/>
          </a:solidFill>
          <a:ln/>
        </p:spPr>
      </p:sp>
      <p:sp>
        <p:nvSpPr>
          <p:cNvPr id="22" name="Shape 18"/>
          <p:cNvSpPr/>
          <p:nvPr/>
        </p:nvSpPr>
        <p:spPr>
          <a:xfrm>
            <a:off x="6766560" y="3639312"/>
            <a:ext cx="36576" cy="566928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23" name="Text 19"/>
          <p:cNvSpPr/>
          <p:nvPr/>
        </p:nvSpPr>
        <p:spPr>
          <a:xfrm>
            <a:off x="6858000" y="3675888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7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 — Weaknesses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6858000" y="38587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650" dirty="0"/>
          </a:p>
        </p:txBody>
      </p:sp>
      <p:sp>
        <p:nvSpPr>
          <p:cNvPr id="25" name="Shape 21"/>
          <p:cNvSpPr/>
          <p:nvPr/>
        </p:nvSpPr>
        <p:spPr>
          <a:xfrm>
            <a:off x="4892040" y="4279392"/>
            <a:ext cx="1783080" cy="566928"/>
          </a:xfrm>
          <a:prstGeom prst="rect">
            <a:avLst/>
          </a:prstGeom>
          <a:solidFill>
            <a:srgbClr val="141420"/>
          </a:solidFill>
          <a:ln/>
        </p:spPr>
      </p:sp>
      <p:sp>
        <p:nvSpPr>
          <p:cNvPr id="26" name="Shape 22"/>
          <p:cNvSpPr/>
          <p:nvPr/>
        </p:nvSpPr>
        <p:spPr>
          <a:xfrm>
            <a:off x="4892040" y="4279392"/>
            <a:ext cx="36576" cy="566928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27" name="Text 23"/>
          <p:cNvSpPr/>
          <p:nvPr/>
        </p:nvSpPr>
        <p:spPr>
          <a:xfrm>
            <a:off x="4983480" y="4315968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47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— Opportunities</a:t>
            </a:r>
            <a:endParaRPr lang="en-US" sz="750" dirty="0"/>
          </a:p>
        </p:txBody>
      </p:sp>
      <p:sp>
        <p:nvSpPr>
          <p:cNvPr id="28" name="Text 24"/>
          <p:cNvSpPr/>
          <p:nvPr/>
        </p:nvSpPr>
        <p:spPr>
          <a:xfrm>
            <a:off x="4983480" y="449884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650" dirty="0"/>
          </a:p>
        </p:txBody>
      </p:sp>
      <p:sp>
        <p:nvSpPr>
          <p:cNvPr id="29" name="Shape 25"/>
          <p:cNvSpPr/>
          <p:nvPr/>
        </p:nvSpPr>
        <p:spPr>
          <a:xfrm>
            <a:off x="6766560" y="4279392"/>
            <a:ext cx="1783080" cy="566928"/>
          </a:xfrm>
          <a:prstGeom prst="rect">
            <a:avLst/>
          </a:prstGeom>
          <a:solidFill>
            <a:srgbClr val="141420"/>
          </a:solidFill>
          <a:ln/>
        </p:spPr>
      </p:sp>
      <p:sp>
        <p:nvSpPr>
          <p:cNvPr id="30" name="Shape 26"/>
          <p:cNvSpPr/>
          <p:nvPr/>
        </p:nvSpPr>
        <p:spPr>
          <a:xfrm>
            <a:off x="6766560" y="4279392"/>
            <a:ext cx="36576" cy="5669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1" name="Text 27"/>
          <p:cNvSpPr/>
          <p:nvPr/>
        </p:nvSpPr>
        <p:spPr>
          <a:xfrm>
            <a:off x="6858000" y="4315968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— Threats</a:t>
            </a:r>
            <a:endParaRPr lang="en-US" sz="750" dirty="0"/>
          </a:p>
        </p:txBody>
      </p:sp>
      <p:sp>
        <p:nvSpPr>
          <p:cNvPr id="32" name="Text 28"/>
          <p:cNvSpPr/>
          <p:nvPr/>
        </p:nvSpPr>
        <p:spPr>
          <a:xfrm>
            <a:off x="6858000" y="449884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Segmentation, Targeting &amp; Positioning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06040" cy="15087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60604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2618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3.1.1 Demographic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5087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606040" cy="15087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60604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1" name="Text 9"/>
          <p:cNvSpPr/>
          <p:nvPr/>
        </p:nvSpPr>
        <p:spPr>
          <a:xfrm>
            <a:off x="3401568" y="12618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3.1.2 Psychographic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01568" y="15087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606040" cy="15087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60604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2618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3.1.3 Behavioural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236208" y="15087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880360"/>
            <a:ext cx="3931920" cy="10515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880360"/>
            <a:ext cx="45720" cy="105156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29260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BB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3.2.1 Primary Target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" y="31546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54880" y="2880360"/>
            <a:ext cx="3931920" cy="10515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2880360"/>
            <a:ext cx="45720" cy="1051560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29260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2A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3.2.2 Secondary Target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937760" y="31546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4114800"/>
            <a:ext cx="3931920" cy="86868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114800"/>
            <a:ext cx="393192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4160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 Positioning Strategy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94360" y="4370832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54880" y="4114800"/>
            <a:ext cx="3931920" cy="86868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54880" y="4114800"/>
            <a:ext cx="45720" cy="86868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1" name="Text 29"/>
          <p:cNvSpPr/>
          <p:nvPr/>
        </p:nvSpPr>
        <p:spPr>
          <a:xfrm>
            <a:off x="4937760" y="4160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 STP Recommendations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37760" y="4370832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Marketing Mix — 7Ps &amp; Recommendations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938528" cy="16916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1938528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5272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Product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1737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78608" y="1188720"/>
            <a:ext cx="1938528" cy="16916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78608" y="1188720"/>
            <a:ext cx="1938528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1" name="Text 9"/>
          <p:cNvSpPr/>
          <p:nvPr/>
        </p:nvSpPr>
        <p:spPr>
          <a:xfrm>
            <a:off x="2670048" y="125272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Pricing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670048" y="1463040"/>
            <a:ext cx="1737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0016" y="1188720"/>
            <a:ext cx="1938528" cy="16916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0016" y="1188720"/>
            <a:ext cx="1938528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5" name="Text 13"/>
          <p:cNvSpPr/>
          <p:nvPr/>
        </p:nvSpPr>
        <p:spPr>
          <a:xfrm>
            <a:off x="4791456" y="125272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Distribution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791456" y="1463040"/>
            <a:ext cx="1737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21424" y="1188720"/>
            <a:ext cx="1938528" cy="16916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821424" y="1188720"/>
            <a:ext cx="1938528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9" name="Text 17"/>
          <p:cNvSpPr/>
          <p:nvPr/>
        </p:nvSpPr>
        <p:spPr>
          <a:xfrm>
            <a:off x="6912864" y="125272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 Promotion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912864" y="1463040"/>
            <a:ext cx="1737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063240"/>
            <a:ext cx="2606040" cy="12344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063240"/>
            <a:ext cx="260604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12724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 People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48640" y="33375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91840" y="3063240"/>
            <a:ext cx="2606040" cy="12344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91840" y="3063240"/>
            <a:ext cx="260604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27" name="Text 25"/>
          <p:cNvSpPr/>
          <p:nvPr/>
        </p:nvSpPr>
        <p:spPr>
          <a:xfrm>
            <a:off x="3383280" y="312724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 Process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3383280" y="33375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26480" y="3063240"/>
            <a:ext cx="2606040" cy="12344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26480" y="3063240"/>
            <a:ext cx="260604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1" name="Text 29"/>
          <p:cNvSpPr/>
          <p:nvPr/>
        </p:nvSpPr>
        <p:spPr>
          <a:xfrm>
            <a:off x="6217920" y="312724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 Physical Evidence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217920" y="33375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4434840"/>
            <a:ext cx="8229600" cy="5486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4434840"/>
            <a:ext cx="45720" cy="5486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446227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 Recommendations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4008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Executive Summary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822960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801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554480"/>
            <a:ext cx="7955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References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&amp; Citations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8229600" cy="320040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188720"/>
            <a:ext cx="822960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801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1554480"/>
            <a:ext cx="7955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0" y="46634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Tesla Model 3 - Marketing Strategy</dc:title>
  <dc:subject>PptxGenJS Presentation</dc:subject>
  <dc:creator>PptxGenJS</dc:creator>
  <cp:lastModifiedBy>PptxGenJS</cp:lastModifiedBy>
  <cp:revision>1</cp:revision>
  <dcterms:created xsi:type="dcterms:W3CDTF">2026-03-23T17:50:05Z</dcterms:created>
  <dcterms:modified xsi:type="dcterms:W3CDTF">2026-03-23T17:50:05Z</dcterms:modified>
</cp:coreProperties>
</file>