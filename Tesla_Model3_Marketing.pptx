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4" name="Shape 2"/>
          <p:cNvSpPr/>
          <p:nvPr/>
        </p:nvSpPr>
        <p:spPr>
          <a:xfrm>
            <a:off x="1828800" y="457200"/>
            <a:ext cx="5486400" cy="4114800"/>
          </a:xfrm>
          <a:prstGeom prst="ellipse">
            <a:avLst/>
          </a:prstGeom>
          <a:solidFill>
            <a:srgbClr val="3D0A0C">
              <a:alpha val="2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500" kern="0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STRATEGY 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TESLA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 3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1463040" cy="22860"/>
          </a:xfrm>
          <a:prstGeom prst="rect">
            <a:avLst/>
          </a:prstGeom>
          <a:solidFill>
            <a:srgbClr val="E82127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651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828800" y="35204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01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1: Introduction to Tesla and Model 3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828800" y="379476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02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2: Critical Analysis of Market Context (PESTEL, Porter's, SWOT)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828800" y="40690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03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3: Segmentation, Targeting and Positioning (STP)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828800" y="434340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04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Part 4: Analysis of Marketing Mix (4Ps) &amp; Recommendations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828800" y="46177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</a:rPr>
              <a:t>05  </a:t>
            </a:r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References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Introduction to Tesla &amp; Model 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931920" cy="18288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Background of Tesla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 – Started with investment of $6.3 million by Elon Musk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 – Tesla Roadster Launched (0-60mph in 3.7s, 395km range, lithium-ion battery)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 – Model S, World's first premium electric sedan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 – Model X released with Autopilot for Model 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 – Model 3 released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0" y="1234440"/>
            <a:ext cx="3931920" cy="18288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489204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Story of Model 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92040" y="160020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Hinted in 2006 as an affordable car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2008, announced to be a family car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Unveiled in 2016, 325,000 reservation within a week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August 2017, 455,000 reservations made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Model 3 best selling EV worldwide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45720" cy="1691640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3101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Why Consumers Choose Model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3566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and Technology – Elon believed in building a good product rather than spending on marketing. Let product do its own marketing.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Star NCAP safety rating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above middle-income range but subsidy made it affordable for middle class.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Elon Musk Branding [Brand Recognition, Brand Loyalty, Similar to Apple]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Autopilot and Full Self Driving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Critical Analysis of Market Context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931920" cy="370332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 Market Trends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572768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being more environmental conscious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 to green energy cars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maintenance and running costs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subsidies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24231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2.2.1 PESTEL Analysis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51760"/>
          <a:ext cx="3611880" cy="2194560"/>
        </p:xfrm>
        <a:graphic>
          <a:graphicData uri="http://schemas.openxmlformats.org/drawingml/2006/table">
            <a:tbl>
              <a:tblPr/>
              <a:tblGrid>
                <a:gridCol w="640080"/>
                <a:gridCol w="502920"/>
                <a:gridCol w="246888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Points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Political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52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Support from government since made in US and pure EV.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Made in USA and priced affordably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52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 in market from ICE to EV due to many benefits.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Technological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52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Minimalist design, Innovative features, Regular software updates, digital display for all controls.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Environmental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52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Pure EV, hence uses renewable source of energy. No pollution from burning of fuels.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Legal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Issues due to FSD and cybersecurity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54880" y="1234440"/>
            <a:ext cx="3931920" cy="19659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54880" y="123444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3" name="Text 10"/>
          <p:cNvSpPr/>
          <p:nvPr/>
        </p:nvSpPr>
        <p:spPr>
          <a:xfrm>
            <a:off x="4892040" y="13258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2.2.2 Porter's Five Forces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600200"/>
          <a:ext cx="3611880" cy="1463040"/>
        </p:xfrm>
        <a:graphic>
          <a:graphicData uri="http://schemas.openxmlformats.org/drawingml/2006/table">
            <a:tbl>
              <a:tblPr/>
              <a:tblGrid>
                <a:gridCol w="777240"/>
                <a:gridCol w="502920"/>
                <a:gridCol w="2331720"/>
              </a:tblGrid>
              <a:tr h="2011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2127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Suppliers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 of the materials self manufactured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Have many options.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Entrants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B74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Difficult since requires high investment and innovative technology.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Substitutes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BB6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 tech and cost alternative to ICE and hybrid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0F0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Rivalry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52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66667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Competitive market, fast tech advancements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A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20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4754880" y="3337560"/>
            <a:ext cx="3931920" cy="16002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892040" y="3383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SWOT Analysis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892040" y="363931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18" name="Shape 14"/>
          <p:cNvSpPr/>
          <p:nvPr/>
        </p:nvSpPr>
        <p:spPr>
          <a:xfrm>
            <a:off x="4892040" y="3639312"/>
            <a:ext cx="36576" cy="566928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5"/>
          <p:cNvSpPr/>
          <p:nvPr/>
        </p:nvSpPr>
        <p:spPr>
          <a:xfrm>
            <a:off x="4983480" y="36758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— Strengths</a:t>
            </a:r>
            <a:endParaRPr lang="en-US" sz="750" dirty="0"/>
          </a:p>
        </p:txBody>
      </p:sp>
      <p:sp>
        <p:nvSpPr>
          <p:cNvPr id="20" name="Text 16"/>
          <p:cNvSpPr/>
          <p:nvPr/>
        </p:nvSpPr>
        <p:spPr>
          <a:xfrm>
            <a:off x="4983480" y="38587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Product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Loyalty</a:t>
            </a:r>
            <a:endParaRPr lang="en-US" sz="650" dirty="0"/>
          </a:p>
        </p:txBody>
      </p:sp>
      <p:sp>
        <p:nvSpPr>
          <p:cNvPr id="21" name="Shape 17"/>
          <p:cNvSpPr/>
          <p:nvPr/>
        </p:nvSpPr>
        <p:spPr>
          <a:xfrm>
            <a:off x="6766560" y="363931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22" name="Shape 18"/>
          <p:cNvSpPr/>
          <p:nvPr/>
        </p:nvSpPr>
        <p:spPr>
          <a:xfrm>
            <a:off x="6766560" y="3639312"/>
            <a:ext cx="36576" cy="566928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3" name="Text 19"/>
          <p:cNvSpPr/>
          <p:nvPr/>
        </p:nvSpPr>
        <p:spPr>
          <a:xfrm>
            <a:off x="6858000" y="367588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7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 — Weaknesses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6858000" y="38587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Delays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Control Issues</a:t>
            </a:r>
            <a:endParaRPr lang="en-US" sz="650" dirty="0"/>
          </a:p>
        </p:txBody>
      </p:sp>
      <p:sp>
        <p:nvSpPr>
          <p:cNvPr id="25" name="Shape 21"/>
          <p:cNvSpPr/>
          <p:nvPr/>
        </p:nvSpPr>
        <p:spPr>
          <a:xfrm>
            <a:off x="4892040" y="427939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26" name="Shape 22"/>
          <p:cNvSpPr/>
          <p:nvPr/>
        </p:nvSpPr>
        <p:spPr>
          <a:xfrm>
            <a:off x="4892040" y="4279392"/>
            <a:ext cx="36576" cy="566928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7" name="Text 23"/>
          <p:cNvSpPr/>
          <p:nvPr/>
        </p:nvSpPr>
        <p:spPr>
          <a:xfrm>
            <a:off x="4983480" y="431596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47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Opportunities</a:t>
            </a:r>
            <a:endParaRPr lang="en-US" sz="750" dirty="0"/>
          </a:p>
        </p:txBody>
      </p:sp>
      <p:sp>
        <p:nvSpPr>
          <p:cNvPr id="28" name="Text 24"/>
          <p:cNvSpPr/>
          <p:nvPr/>
        </p:nvSpPr>
        <p:spPr>
          <a:xfrm>
            <a:off x="4983480" y="4498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Robotaxi, FSD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Market</a:t>
            </a:r>
            <a:endParaRPr lang="en-US" sz="650" dirty="0"/>
          </a:p>
        </p:txBody>
      </p:sp>
      <p:sp>
        <p:nvSpPr>
          <p:cNvPr id="29" name="Shape 25"/>
          <p:cNvSpPr/>
          <p:nvPr/>
        </p:nvSpPr>
        <p:spPr>
          <a:xfrm>
            <a:off x="6766560" y="4279392"/>
            <a:ext cx="1783080" cy="566928"/>
          </a:xfrm>
          <a:prstGeom prst="rect">
            <a:avLst/>
          </a:prstGeom>
          <a:solidFill>
            <a:srgbClr val="141420"/>
          </a:solidFill>
          <a:ln/>
        </p:spPr>
      </p:sp>
      <p:sp>
        <p:nvSpPr>
          <p:cNvPr id="30" name="Shape 26"/>
          <p:cNvSpPr/>
          <p:nvPr/>
        </p:nvSpPr>
        <p:spPr>
          <a:xfrm>
            <a:off x="6766560" y="4279392"/>
            <a:ext cx="36576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Text 27"/>
          <p:cNvSpPr/>
          <p:nvPr/>
        </p:nvSpPr>
        <p:spPr>
          <a:xfrm>
            <a:off x="6858000" y="431596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— Threats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6858000" y="4498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Market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Cybersecurity and FSD liability risk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Segmentation, Targeting &amp; Positioning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3.1.1 Demographic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Mostly Male buyers than female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30-40 are major buyers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340156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3.1.2 Psychographic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0156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brand recognition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loyalty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606040" cy="1508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60604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6236208" y="1261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3.1.3 Behavioural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236208" y="15087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Innovative ideas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 Screen display [Netflix, Games]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to PS5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new fun features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880360"/>
            <a:ext cx="3931920" cy="10515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880360"/>
            <a:ext cx="45720" cy="105156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9260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BB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3.2.1 Primary Target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0080" y="318211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Young People in their 20s and 30s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3931920" cy="10515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54880" y="2880360"/>
            <a:ext cx="45720" cy="105156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2926080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2A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3.2.2 Secondary Target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937760" y="3182112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 Friendly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Savvy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Level Buyer for Electric Luxury Car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3931920" cy="86868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11480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 Positioning Strategy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" y="437083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 high End &gt; High End &gt; SUV &gt; Mid Level [Priced at $35,000]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54880" y="4114800"/>
            <a:ext cx="3931920" cy="86868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4114800"/>
            <a:ext cx="45720" cy="86868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STP Recommendations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4370832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Women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affordable car options for lower income market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Marketing Mix — 4Ps &amp; Recommendations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002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61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Product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EV product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Electric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Structure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Minimalist Design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931920" cy="16002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Pricing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800600" y="15087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Slightly higher than affordable range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due to subsidy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Feels premium but affordable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3931920" cy="16002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97180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044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Place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32918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Shopping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External Dealerships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Stores owned and managed by Tesla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663440" y="2971800"/>
            <a:ext cx="3931920" cy="16002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971800"/>
            <a:ext cx="393192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304495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 Promotion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00600" y="32918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ad spent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Elon Musk (200m followers)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in $19B of ad value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programs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4663440"/>
            <a:ext cx="45720" cy="36576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68172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Recommendations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468172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more on digital ads, more product options, more customizations options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502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0F0F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References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&amp; Citations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solidFill>
            <a:srgbClr val="141420"/>
          </a:solidFill>
          <a:ln/>
          <a:effectLst>
            <a:outerShdw sx="100000" sy="100000" kx="0" ky="0" algn="bl" rotWithShape="0" blurRad="76200" dist="25400" dir="8100000">
              <a:srgbClr val="000000">
                <a:alpha val="3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88720"/>
            <a:ext cx="8229600" cy="32004"/>
          </a:xfrm>
          <a:prstGeom prst="rect">
            <a:avLst/>
          </a:prstGeom>
          <a:solidFill>
            <a:srgbClr val="E82127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21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7955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– sports electric sedan | Tesla. Available at: https://www.tesla.com/model3 (Accessed: 23 March 2026).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(2025) Tesla’s marketing strategy and its impact on EV Growth, Aeternus. Available at: https://www.aeternus.rs/driving-innovation-teslas-marketing-strategy-and-its-impact-on-electric-vehicle-adoption/ (Accessed: 24 March 2026).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Hu, J. (2025) ‘Research on the marketing strategy of Tesla marketing based on the 4P Theory and SWOT analytical method’, Advances in Economics, Management and Political Sciences, 240(1), pp. 81–90.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Hu, Z. (2022) ‘Research on the consumer behavior characteristics and marketing strategy of new energy vehicles’, BCP Business &amp; Management, 31, pp. 168–175.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Mangram, M.E. (2012) ‘The globalization of Tesla Motors: A strategic marketing plan analysis’, Journal of Strategic Marketing, 20(4), pp. 289–312.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Young, J., Fattah, A. and Clark, P. (2020) Tesla: Direct Marketing Vs Franchising [Preprint].</a:t>
            </a:r>
            <a:endParaRPr lang="en-US" sz="700" dirty="0"/>
          </a:p>
          <a:p>
            <a:pPr marL="342900" indent="-342900">
              <a:buSzPct val="100000"/>
              <a:buChar char="•"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‘Tesla marketing analysis’ (2023) Academic Journal of Business &amp; Management, 5(2).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0" y="46634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21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Tesla Model 3 - Marketing Strategy</dc:title>
  <dc:subject>PptxGenJS Presentation</dc:subject>
  <dc:creator>PptxGenJS</dc:creator>
  <cp:lastModifiedBy>PptxGenJS</cp:lastModifiedBy>
  <cp:revision>1</cp:revision>
  <dcterms:created xsi:type="dcterms:W3CDTF">2026-03-23T18:42:53Z</dcterms:created>
  <dcterms:modified xsi:type="dcterms:W3CDTF">2026-03-23T18:42:53Z</dcterms:modified>
</cp:coreProperties>
</file>